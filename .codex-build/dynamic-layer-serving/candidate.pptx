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3b4091dbfa47d4" /><Relationship Type="http://schemas.openxmlformats.org/officeDocument/2006/relationships/extended-properties" Target="/docProps/app.xml" Id="R4150fa0454754c19" /><Relationship Type="http://schemas.openxmlformats.org/officeDocument/2006/relationships/officeDocument" Target="/ppt/presentation.xml" Id="R79a38e1137a145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7acd1a1496441c"/>
  </p:sldMasterIdLst>
  <p:notesMasterIdLst>
    <p:notesMasterId xmlns:r="http://schemas.openxmlformats.org/officeDocument/2006/relationships" r:id="Rcfc2e4ef6342491d"/>
  </p:notesMasterIdLst>
  <p:sldIdLst>
    <p:sldId xmlns:r="http://schemas.openxmlformats.org/officeDocument/2006/relationships" id="256" r:id="R70d7e498a66a42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98ae53cb294412" /><Relationship Type="http://schemas.openxmlformats.org/officeDocument/2006/relationships/slideMaster" Target="/ppt/slideMasters/slideMaster1.xml" Id="R307acd1a1496441c" /><Relationship Type="http://schemas.openxmlformats.org/officeDocument/2006/relationships/notesMaster" Target="/ppt/notesMasters/notesMaster1.xml" Id="Rcfc2e4ef6342491d" /><Relationship Type="http://schemas.openxmlformats.org/officeDocument/2006/relationships/presProps" Target="/ppt/presProps.xml" Id="R9110db94984549d5" /><Relationship Type="http://schemas.openxmlformats.org/officeDocument/2006/relationships/tableStyles" Target="/ppt/tableStyles.xml" Id="Ra43d30b5de8d494f" /><Relationship Type="http://schemas.openxmlformats.org/officeDocument/2006/relationships/slide" Target="/ppt/slides/slide1.xml" Id="R70d7e498a66a42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735fb421854c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cc24b331794ddf" /><Relationship Type="http://schemas.openxmlformats.org/officeDocument/2006/relationships/notesMaster" Target="/ppt/notesMasters/notesMaster1.xml" Id="R70cd55be412b43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based on the user's POLAR serving challenge framing in the current conversation.</a:t>
            </a:r>
          </a:p>
          <a:p xmlns:a="http://schemas.openxmlformats.org/drawingml/2006/main">
            <a:r>
              <a:t>The examples are conceptual layer execution paths, not measured production traces.</a:t>
            </a:r>
          </a:p>
          <a:p xmlns:a="http://schemas.openxmlformats.org/drawingml/2006/main">
            <a:r>
              <a:t>Key research directions: path-aware batching, execution-aware KV cache, cost-aware scheduling, and top-k candidate serving.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eaa376dd340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65a9b158124578" /><Relationship Type="http://schemas.openxmlformats.org/officeDocument/2006/relationships/slideLayout" Target="/ppt/slideLayouts/slideLayout1.xml" Id="R4c8fc892c6e640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8fc892c6e640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d1656c3e24ccd" /><Relationship Type="http://schemas.openxmlformats.org/officeDocument/2006/relationships/notesSlide" Target="/ppt/notesSlides/notesSlide1.xml" Id="R03708bca97964e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ACCEFB-0161-419A-9FFC-87993B0D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动态 Layer Transformer 的服务化推理挑战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38822-320A-4C12-9B61-BDE9BF96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目标：在 skip / repeat / segment execution 下，维持固定层模型的吞吐、时延和可预测性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41E3A-B5F7-43C6-9D7E-006AADB5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1000"/>
            <a:ext cx="23241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7CCFF"/>
            </a:solidFill>
            <a:prstDash val="solid"/>
          </a:ln>
        </p:spPr>
        <p:txBody>
          <a:bodyPr xmlns:a="http://schemas.openxmlformats.org/drawingml/2006/main">
            <a:normAutofit fontScale="8650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49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49A9"/>
                </a:solidFill>
                <a:latin typeface="Helvetica Neue"/>
                <a:ea typeface="Helvetica Neue"/>
                <a:cs typeface="Helvetica Neue"/>
              </a:rPr>
              <a:t>AI Infra 难题挑战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12801-4D9A-456B-8135-DDE6531A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3219450" cy="4305300"/>
          </a:xfrm>
          <a:prstGeom xmlns:a="http://schemas.openxmlformats.org/drawingml/2006/main" prst="roundRect">
            <a:avLst>
              <a:gd name="adj" fmla="val 53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A0B05-D7AA-4499-9F8F-3BA6044C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314450"/>
            <a:ext cx="3524250" cy="430530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0A32D-81B4-49EE-A6C7-49CD8525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14450"/>
            <a:ext cx="3714750" cy="43053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33746-977A-431B-8551-9F851B08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固定层 Serving 假设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F450E-AEA7-4751-8C6F-E83A408C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60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现有 LLM serving 默认 batch 内请求按同一层序执行。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3F7B4-FB23-410A-BBA4-CC191104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4384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26344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6E4FF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D6E4FF"/>
                </a:solidFill>
                <a:latin typeface="Menlo"/>
                <a:ea typeface="Menlo"/>
                <a:cs typeface="Menlo"/>
              </a:rPr>
              <a:t>Batch token step t</a:t>
            </a:r>
          </a:p>
          <a:p xmlns:a="http://schemas.openxmlformats.org/drawingml/2006/main">
            <a:pPr>
              <a:defRPr sz="1200">
                <a:solidFill>
                  <a:srgbClr val="D6E4FF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D6E4FF"/>
                </a:solidFill>
                <a:latin typeface="Menlo"/>
                <a:ea typeface="Menlo"/>
                <a:cs typeface="Menlo"/>
              </a:rPr>
              <a:t>  layer 0</a:t>
            </a:r>
          </a:p>
          <a:p xmlns:a="http://schemas.openxmlformats.org/drawingml/2006/main">
            <a:pPr>
              <a:defRPr sz="1200">
                <a:solidFill>
                  <a:srgbClr val="D6E4FF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D6E4FF"/>
                </a:solidFill>
                <a:latin typeface="Menlo"/>
                <a:ea typeface="Menlo"/>
                <a:cs typeface="Menlo"/>
              </a:rPr>
              <a:t>  layer 1</a:t>
            </a:r>
          </a:p>
          <a:p xmlns:a="http://schemas.openxmlformats.org/drawingml/2006/main">
            <a:pPr>
              <a:defRPr sz="1200">
                <a:solidFill>
                  <a:srgbClr val="D6E4FF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D6E4FF"/>
                </a:solidFill>
                <a:latin typeface="Menlo"/>
                <a:ea typeface="Menlo"/>
                <a:cs typeface="Menlo"/>
              </a:rPr>
              <a:t>  layer 2</a:t>
            </a:r>
          </a:p>
          <a:p xmlns:a="http://schemas.openxmlformats.org/drawingml/2006/main">
            <a:pPr>
              <a:defRPr sz="1200">
                <a:solidFill>
                  <a:srgbClr val="D6E4FF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D6E4FF"/>
                </a:solidFill>
                <a:latin typeface="Menlo"/>
                <a:ea typeface="Menlo"/>
                <a:cs typeface="Menlo"/>
              </a:rPr>
              <a:t>  ...</a:t>
            </a:r>
          </a:p>
          <a:p xmlns:a="http://schemas.openxmlformats.org/drawingml/2006/main">
            <a:pPr>
              <a:defRPr sz="1200">
                <a:solidFill>
                  <a:srgbClr val="D6E4FF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D6E4FF"/>
                </a:solidFill>
                <a:latin typeface="Menlo"/>
                <a:ea typeface="Menlo"/>
                <a:cs typeface="Menlo"/>
              </a:rPr>
              <a:t>  layer 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827B7-D9D6-4140-AF99-F64A84BD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440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44054"/>
                </a:solidFill>
                <a:latin typeface="Helvetica Neue"/>
                <a:ea typeface="Helvetica Neue"/>
                <a:cs typeface="Helvetica Neue"/>
              </a:rPr>
              <a:t>系统优化建立在这些稳定假设上：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08F03-4D1E-4E66-BC41-F6572BD3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固定 layer graph</a:t>
            </a:r>
          </a:p>
          <a:p xmlns:a="http://schemas.openxmlformats.org/drawingml/2006/main">
            <a:pPr>
              <a:def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KV cache 按 layer 管理</a:t>
            </a:r>
          </a:p>
          <a:p xmlns:a="http://schemas.openxmlformats.org/drawingml/2006/main">
            <a:pPr>
              <a:def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调度只估计 token 与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8CF50-6940-403E-96F0-1474A1FD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POLAR 类模型打破假设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52FDA-4DD2-4EBA-A9B8-ABE15848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859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1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模型执行不再是固定 forward，而是每个请求拥有自己的 layer execution program。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37AE5-CFD6-4F6F-915F-2D7D42D6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27051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44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D6E4FF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D6E4FF"/>
                </a:solidFill>
                <a:latin typeface="Menlo"/>
                <a:ea typeface="Menlo"/>
                <a:cs typeface="Menlo"/>
              </a:rPr>
              <a:t>Req A: 0 1 2 3 4 ... 35</a:t>
            </a:r>
          </a:p>
          <a:p xmlns:a="http://schemas.openxmlformats.org/drawingml/2006/main">
            <a:pPr>
              <a:defRPr sz="1088">
                <a:solidFill>
                  <a:srgbClr val="D6E4FF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D6E4FF"/>
                </a:solidFill>
                <a:latin typeface="Menlo"/>
                <a:ea typeface="Menlo"/>
                <a:cs typeface="Menlo"/>
              </a:rPr>
              <a:t>Req B: 0 1 2 3 3 4 ...</a:t>
            </a:r>
          </a:p>
          <a:p xmlns:a="http://schemas.openxmlformats.org/drawingml/2006/main">
            <a:pPr>
              <a:defRPr sz="1088">
                <a:solidFill>
                  <a:srgbClr val="D6E4FF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D6E4FF"/>
                </a:solidFill>
                <a:latin typeface="Menlo"/>
                <a:ea typeface="Menlo"/>
                <a:cs typeface="Menlo"/>
              </a:rPr>
              <a:t>Req C: 0 1 4 5 6 ... 35</a:t>
            </a:r>
          </a:p>
          <a:p xmlns:a="http://schemas.openxmlformats.org/drawingml/2006/main">
            <a:pPr>
              <a:defRPr sz="1088">
                <a:solidFill>
                  <a:srgbClr val="D6E4FF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D6E4FF"/>
                </a:solidFill>
                <a:latin typeface="Menlo"/>
                <a:ea typeface="Menlo"/>
                <a:cs typeface="Menlo"/>
              </a:rPr>
              <a:t>Req D: 0 1 2 3 4 4 5 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AA359-35C4-4920-BCDB-C90DB42C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57650"/>
            <a:ext cx="27051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A2E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A2E0E"/>
                </a:solidFill>
                <a:latin typeface="Helvetica Neue"/>
                <a:ea typeface="Helvetica Neue"/>
                <a:cs typeface="Helvetica Neue"/>
              </a:rPr>
              <a:t>精度收益来自动态路径，但动态路径会打散 batch、改变 KV cache 语义，并让单 token 成本变得不可预测。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4E8C8-0713-4722-B12D-EC24B177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621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四个核心系统问题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4FAA7-A7FB-44EF-AD7D-3B258B31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solidFill>
              <a:srgbClr val="2E90F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86CF1-2987-466F-8949-A030A467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Path-aware batching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39446-A456-4F0D-81A8-9C290C54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76475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632"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按 layer id、segment 或 program prefix 组 batch，降低动态路径带来的碎片化。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05469-AC5C-4BF4-BDDF-E8ADDBA2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solidFill>
              <a:srgbClr val="12B76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13B1C-30A1-40E0-8CCF-18F0B17A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956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Execution-aware KV cache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1D33E-03E0-4B23-89D5-1E3EE84B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33725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83"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repeat layer 的第二次执行输入不同，cache key 需要从 layer id 扩展到 execution step。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7AE45A-5AF7-49E1-9690-AB344A28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solidFill>
              <a:srgbClr val="F7900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87EB1-562A-499E-9ED0-98CB75A5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528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Cost-aware scheduling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8FE555-EB51-4861-8400-959AD945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90975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86"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不同请求的 layer executions 不同，调度器需要估计成本并控制 P99 latency。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D53B06-8220-4535-A07C-BB7DF27C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77ED"/>
          </a:solidFill>
          <a:ln xmlns:a="http://schemas.openxmlformats.org/drawingml/2006/main" w="0">
            <a:solidFill>
              <a:srgbClr val="9E77E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21A70-E72F-4B4D-9DA3-43229880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101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Top-k candidate serving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8E8B74-1FC2-41E3-A33F-90376662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48225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86"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多路径可提升准确率，但需要 selector、early-stop 和共享计算来限制总时延。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036C2F-E537-44E7-944C-9082F5AF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633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挑战定义：让动态层执行 Transformer 像固定层 Transformer 一样高效、稳定、可预测地服务化部署。</a:t>
            </a:r>
          </a:p>
        </p:txBody>
      </p:sp>
    </p:spTree>
    <p:extLst>
      <p:ext uri="{BB962C8B-B14F-4D97-AF65-F5344CB8AC3E}">
        <p14:creationId xmlns:p14="http://schemas.microsoft.com/office/powerpoint/2010/main" val="1363422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2026-10-21T07:51:06.0190000Z</dcterms:created>
  <dcterms:modified xsi:type="dcterms:W3CDTF">2026-10-21T07:51:06.0190000Z</dcterms:modified>
</coreProperties>
</file>